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30400" cy="8229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7432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>
                <a:solidFill>
                  <a:srgbClr val="FFFFFF"/>
                </a:solidFill>
                <a:latin typeface="Arial Black"/>
              </a:defRPr>
            </a:pPr>
            <a:r>
              <a:t>Indian Premier League: Weekly Review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1148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800">
                <a:solidFill>
                  <a:srgbClr val="CADCFC"/>
                </a:solidFill>
                <a:latin typeface="Arial"/>
              </a:defRPr>
            </a:pPr>
            <a:r>
              <a:t>May 18-24, 2026: The Playoff Picture Takes Shape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>
                <a:solidFill>
                  <a:srgbClr val="1E2761"/>
                </a:solidFill>
                <a:latin typeface="Arial Black"/>
              </a:defRPr>
            </a:pPr>
            <a:r>
              <a:t>Agenda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1828800"/>
            <a:ext cx="11887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200"/>
              </a:spcBef>
              <a:spcAft>
                <a:spcPts val="1200"/>
              </a:spcAft>
              <a:defRPr sz="3200">
                <a:solidFill>
                  <a:srgbClr val="36454F"/>
                </a:solidFill>
                <a:latin typeface="Arial"/>
              </a:defRPr>
            </a:pPr>
            <a:r>
              <a:t>Crucial Match Results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3200">
                <a:solidFill>
                  <a:srgbClr val="36454F"/>
                </a:solidFill>
                <a:latin typeface="Arial"/>
              </a:defRPr>
            </a:pPr>
            <a:r>
              <a:t>Final League Standings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3200">
                <a:solidFill>
                  <a:srgbClr val="36454F"/>
                </a:solidFill>
                <a:latin typeface="Arial"/>
              </a:defRPr>
            </a:pPr>
            <a:r>
              <a:t>The Playoff Landscape</a:t>
            </a:r>
          </a:p>
          <a:p>
            <a:pPr>
              <a:spcBef>
                <a:spcPts val="1200"/>
              </a:spcBef>
              <a:spcAft>
                <a:spcPts val="1200"/>
              </a:spcAft>
              <a:defRPr sz="3200">
                <a:solidFill>
                  <a:srgbClr val="36454F"/>
                </a:solidFill>
                <a:latin typeface="Arial"/>
              </a:defRPr>
            </a:pPr>
            <a:r>
              <a:t>Key Takeaways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>
                <a:solidFill>
                  <a:srgbClr val="1E2761"/>
                </a:solidFill>
                <a:latin typeface="Arial Black"/>
              </a:defRPr>
            </a:pPr>
            <a:r>
              <a:t>Crucial Match Results (May 18-24)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6400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>
                <a:solidFill>
                  <a:srgbClr val="1E2761"/>
                </a:solidFill>
                <a:latin typeface="Arial"/>
              </a:defRPr>
            </a:pPr>
            <a:r>
              <a:t>May 19:</a:t>
            </a:r>
          </a:p>
          <a:p>
            <a:pPr>
              <a:spcAft>
                <a:spcPts val="1800"/>
              </a:spcAft>
              <a:defRPr sz="1800">
                <a:solidFill>
                  <a:srgbClr val="36454F"/>
                </a:solidFill>
                <a:latin typeface="Arial"/>
              </a:defRPr>
            </a:pPr>
            <a:r>
              <a:t>Rajasthan Royals defeat Lucknow Super Giants</a:t>
            </a:r>
          </a:p>
          <a:p>
            <a:pPr>
              <a:defRPr b="1" sz="1800">
                <a:solidFill>
                  <a:srgbClr val="1E2761"/>
                </a:solidFill>
                <a:latin typeface="Arial"/>
              </a:defRPr>
            </a:pPr>
            <a:r>
              <a:t>May 20:</a:t>
            </a:r>
          </a:p>
          <a:p>
            <a:pPr>
              <a:spcAft>
                <a:spcPts val="1800"/>
              </a:spcAft>
              <a:defRPr sz="1800">
                <a:solidFill>
                  <a:srgbClr val="36454F"/>
                </a:solidFill>
                <a:latin typeface="Arial"/>
              </a:defRPr>
            </a:pPr>
            <a:r>
              <a:t>Kolkata Knight Riders defeat Mumbai Indians</a:t>
            </a:r>
          </a:p>
          <a:p>
            <a:pPr>
              <a:defRPr b="1" sz="1800">
                <a:solidFill>
                  <a:srgbClr val="1E2761"/>
                </a:solidFill>
                <a:latin typeface="Arial"/>
              </a:defRPr>
            </a:pPr>
            <a:r>
              <a:t>May 21:</a:t>
            </a:r>
          </a:p>
          <a:p>
            <a:pPr>
              <a:spcAft>
                <a:spcPts val="1800"/>
              </a:spcAft>
              <a:defRPr sz="1800">
                <a:solidFill>
                  <a:srgbClr val="36454F"/>
                </a:solidFill>
                <a:latin typeface="Arial"/>
              </a:defRPr>
            </a:pPr>
            <a:r>
              <a:t>Gujarat Titans defeat Chennai Super Kings</a:t>
            </a:r>
          </a:p>
          <a:p>
            <a:pPr>
              <a:defRPr b="1" sz="1800">
                <a:solidFill>
                  <a:srgbClr val="1E2761"/>
                </a:solidFill>
                <a:latin typeface="Arial"/>
              </a:defRPr>
            </a:pPr>
            <a:r>
              <a:t>May 22:</a:t>
            </a:r>
          </a:p>
          <a:p>
            <a:pPr>
              <a:spcAft>
                <a:spcPts val="1800"/>
              </a:spcAft>
              <a:defRPr sz="1800">
                <a:solidFill>
                  <a:srgbClr val="36454F"/>
                </a:solidFill>
                <a:latin typeface="Arial"/>
              </a:defRPr>
            </a:pPr>
            <a:r>
              <a:t>Sunrisers Hyderabad defeat Royal Challengers Bengaluru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0" y="1828800"/>
            <a:ext cx="6400800" cy="5486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b="1" sz="1800">
                <a:solidFill>
                  <a:srgbClr val="1E2761"/>
                </a:solidFill>
                <a:latin typeface="Arial"/>
              </a:defRPr>
            </a:pPr>
            <a:r>
              <a:t>May 23:</a:t>
            </a:r>
          </a:p>
          <a:p>
            <a:pPr>
              <a:spcAft>
                <a:spcPts val="1800"/>
              </a:spcAft>
              <a:defRPr sz="1800">
                <a:solidFill>
                  <a:srgbClr val="36454F"/>
                </a:solidFill>
                <a:latin typeface="Arial"/>
              </a:defRPr>
            </a:pPr>
            <a:r>
              <a:t>Punjab Kings defeat Lucknow Super Giants</a:t>
            </a:r>
          </a:p>
          <a:p>
            <a:pPr>
              <a:defRPr b="1" sz="1800">
                <a:solidFill>
                  <a:srgbClr val="1E2761"/>
                </a:solidFill>
                <a:latin typeface="Arial"/>
              </a:defRPr>
            </a:pPr>
            <a:r>
              <a:t>May 24:</a:t>
            </a:r>
          </a:p>
          <a:p>
            <a:pPr>
              <a:spcAft>
                <a:spcPts val="1800"/>
              </a:spcAft>
              <a:defRPr sz="1800">
                <a:solidFill>
                  <a:srgbClr val="36454F"/>
                </a:solidFill>
                <a:latin typeface="Arial"/>
              </a:defRPr>
            </a:pPr>
            <a:r>
              <a:t>Rajasthan Royals defeat Mumbai Indians</a:t>
            </a:r>
          </a:p>
          <a:p>
            <a:pPr>
              <a:defRPr b="1" sz="1800">
                <a:solidFill>
                  <a:srgbClr val="1E2761"/>
                </a:solidFill>
                <a:latin typeface="Arial"/>
              </a:defRPr>
            </a:pPr>
            <a:r>
              <a:t>May 24:</a:t>
            </a:r>
          </a:p>
          <a:p>
            <a:pPr>
              <a:spcAft>
                <a:spcPts val="1800"/>
              </a:spcAft>
              <a:defRPr sz="1800">
                <a:solidFill>
                  <a:srgbClr val="36454F"/>
                </a:solidFill>
                <a:latin typeface="Arial"/>
              </a:defRPr>
            </a:pPr>
            <a:r>
              <a:t>Delhi Capitals defeat Kolkata Knight Riders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>
                <a:solidFill>
                  <a:srgbClr val="1E2761"/>
                </a:solidFill>
                <a:latin typeface="Arial Black"/>
              </a:defRPr>
            </a:pPr>
            <a:r>
              <a:t>Final League Standings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914400" y="2286000"/>
            <a:ext cx="4114800" cy="4572000"/>
          </a:xfrm>
          <a:prstGeom prst="roundRect">
            <a:avLst/>
          </a:prstGeom>
          <a:solidFill>
            <a:srgbClr val="E9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/>
          <a:lstStyle/>
          <a:p>
            <a:pPr algn="ctr">
              <a:defRPr sz="2200">
                <a:solidFill>
                  <a:srgbClr val="2C5F2D"/>
                </a:solidFill>
                <a:latin typeface="Arial Black"/>
              </a:defRPr>
            </a:pPr>
            <a:r>
              <a:t>Qualified for Playoffs</a:t>
            </a:r>
          </a:p>
          <a:p>
            <a:pPr>
              <a:spcBef>
                <a:spcPts val="1200"/>
              </a:spcBef>
              <a:defRPr sz="1800">
                <a:latin typeface="Arial"/>
              </a:defRPr>
            </a:pPr>
            <a:r>
              <a:t>• Royal Challengers Bengaluru</a:t>
            </a:r>
          </a:p>
          <a:p>
            <a:pPr>
              <a:spcBef>
                <a:spcPts val="1200"/>
              </a:spcBef>
              <a:defRPr sz="1800">
                <a:latin typeface="Arial"/>
              </a:defRPr>
            </a:pPr>
            <a:r>
              <a:t>• Gujarat Titans</a:t>
            </a:r>
          </a:p>
          <a:p>
            <a:pPr>
              <a:spcBef>
                <a:spcPts val="1200"/>
              </a:spcBef>
              <a:defRPr sz="1800">
                <a:latin typeface="Arial"/>
              </a:defRPr>
            </a:pPr>
            <a:r>
              <a:t>• Sunrisers Hyderabad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257800" y="2286000"/>
            <a:ext cx="4114800" cy="4572000"/>
          </a:xfrm>
          <a:prstGeom prst="roundRect">
            <a:avLst/>
          </a:prstGeom>
          <a:solidFill>
            <a:srgbClr val="FFF9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/>
          <a:lstStyle/>
          <a:p>
            <a:pPr algn="ctr">
              <a:defRPr sz="2200">
                <a:solidFill>
                  <a:srgbClr val="B8860B"/>
                </a:solidFill>
                <a:latin typeface="Arial Black"/>
              </a:defRPr>
            </a:pPr>
            <a:r>
              <a:t>Contending for 4th Spot</a:t>
            </a:r>
          </a:p>
          <a:p>
            <a:pPr>
              <a:spcBef>
                <a:spcPts val="1200"/>
              </a:spcBef>
              <a:defRPr sz="1800">
                <a:latin typeface="Arial"/>
              </a:defRPr>
            </a:pPr>
            <a:r>
              <a:t>• Rajasthan Royals</a:t>
            </a:r>
          </a:p>
          <a:p>
            <a:pPr>
              <a:spcBef>
                <a:spcPts val="1200"/>
              </a:spcBef>
              <a:defRPr sz="1800">
                <a:latin typeface="Arial"/>
              </a:defRPr>
            </a:pPr>
            <a:r>
              <a:t>• Punjab Kings</a:t>
            </a:r>
          </a:p>
          <a:p>
            <a:pPr>
              <a:spcBef>
                <a:spcPts val="1200"/>
              </a:spcBef>
              <a:defRPr sz="1800">
                <a:latin typeface="Arial"/>
              </a:defRPr>
            </a:pPr>
            <a:r>
              <a:t>• Kolkata Knight Riders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601200" y="2286000"/>
            <a:ext cx="4114800" cy="4572000"/>
          </a:xfrm>
          <a:prstGeom prst="roundRect">
            <a:avLst/>
          </a:prstGeom>
          <a:solidFill>
            <a:srgbClr val="FDE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rIns="182880" tIns="182880" bIns="182880"/>
          <a:lstStyle/>
          <a:p>
            <a:pPr algn="ctr">
              <a:defRPr sz="2200">
                <a:solidFill>
                  <a:srgbClr val="990011"/>
                </a:solidFill>
                <a:latin typeface="Arial Black"/>
              </a:defRPr>
            </a:pPr>
            <a:r>
              <a:t>Eliminated</a:t>
            </a:r>
          </a:p>
          <a:p>
            <a:pPr>
              <a:spcBef>
                <a:spcPts val="1200"/>
              </a:spcBef>
              <a:defRPr sz="1800">
                <a:latin typeface="Arial"/>
              </a:defRPr>
            </a:pPr>
            <a:r>
              <a:t>• Chennai Super Kings</a:t>
            </a:r>
          </a:p>
          <a:p>
            <a:pPr>
              <a:spcBef>
                <a:spcPts val="1200"/>
              </a:spcBef>
              <a:defRPr sz="1800">
                <a:latin typeface="Arial"/>
              </a:defRPr>
            </a:pPr>
            <a:r>
              <a:t>• Mumbai Indians</a:t>
            </a:r>
          </a:p>
          <a:p>
            <a:pPr>
              <a:spcBef>
                <a:spcPts val="1200"/>
              </a:spcBef>
              <a:defRPr sz="1800">
                <a:latin typeface="Arial"/>
              </a:defRPr>
            </a:pPr>
            <a:r>
              <a:t>• Lucknow Super Giants</a:t>
            </a:r>
          </a:p>
          <a:p>
            <a:pPr>
              <a:spcBef>
                <a:spcPts val="1200"/>
              </a:spcBef>
              <a:defRPr sz="1800">
                <a:latin typeface="Arial"/>
              </a:defRPr>
            </a:pPr>
            <a:r>
              <a:t>• Delhi Capitals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2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>
                <a:solidFill>
                  <a:srgbClr val="1E2761"/>
                </a:solidFill>
                <a:latin typeface="Arial Black"/>
              </a:defRPr>
            </a:pPr>
            <a:r>
              <a:t>The Playoff Landscape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2860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1E2761"/>
                </a:solidFill>
                <a:latin typeface="Arial Black"/>
              </a:defRPr>
            </a:pPr>
            <a:r>
              <a:t>Qualifier 1</a:t>
            </a:r>
          </a:p>
          <a:p>
            <a:pPr>
              <a:spcBef>
                <a:spcPts val="600"/>
              </a:spcBef>
              <a:defRPr sz="2200">
                <a:latin typeface="Arial"/>
              </a:defRPr>
            </a:pPr>
            <a:r>
              <a:t>Royal Challengers Bengaluru (1st) vs. Gujarat Titans (2nd)</a:t>
            </a:r>
          </a:p>
          <a:p>
            <a:pPr>
              <a:defRPr i="1" sz="1800">
                <a:solidFill>
                  <a:srgbClr val="36454F"/>
                </a:solidFill>
                <a:latin typeface="Arial"/>
              </a:defRPr>
            </a:pPr>
            <a:r>
              <a:t>The winner proceeds directly to the Final.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45720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/>
          <a:p>
            <a:pPr>
              <a:defRPr sz="2800">
                <a:solidFill>
                  <a:srgbClr val="1E2761"/>
                </a:solidFill>
                <a:latin typeface="Arial Black"/>
              </a:defRPr>
            </a:pPr>
            <a:r>
              <a:t>Eliminator</a:t>
            </a:r>
          </a:p>
          <a:p>
            <a:pPr>
              <a:spcBef>
                <a:spcPts val="600"/>
              </a:spcBef>
              <a:defRPr sz="2200">
                <a:latin typeface="Arial"/>
              </a:defRPr>
            </a:pPr>
            <a:r>
              <a:t>Sunrisers Hyderabad (3rd) vs. [4th Place Team]</a:t>
            </a:r>
          </a:p>
          <a:p>
            <a:pPr>
              <a:defRPr i="1" sz="1800">
                <a:solidFill>
                  <a:srgbClr val="36454F"/>
                </a:solidFill>
                <a:latin typeface="Arial"/>
              </a:defRPr>
            </a:pPr>
            <a:r>
              <a:t>The loser is eliminated. The winner plays the loser of Qualifier 1.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3200400"/>
            <a:ext cx="128016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000">
                <a:solidFill>
                  <a:srgbClr val="FFFFFF"/>
                </a:solidFill>
                <a:latin typeface="Arial Black"/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4572000"/>
            <a:ext cx="128016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CADCFC"/>
                </a:solidFill>
                <a:latin typeface="Arial"/>
              </a:defRPr>
            </a:pPr>
            <a:r>
              <a:t>An exciting week concludes, setting the stage for a thrilling playoff series.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