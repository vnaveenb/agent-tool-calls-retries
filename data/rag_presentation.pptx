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2801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Retrieval-Augmented Generation (RAG)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8C8C8"/>
                </a:solidFill>
                <a:latin typeface="Arial"/>
              </a:defRPr>
            </a:pPr>
            <a:r>
              <a:t>Bridging the Gap Between LLMs and External Knowledge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/>
            </a:pPr>
            <a:r>
              <a:t>The Challenge with Traditional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2000"/>
            </a:pPr>
            <a:r>
              <a:t>Large Language Models (LLMs) are powerful, but they have inherent limitations:</a:t>
            </a:r>
          </a:p>
          <a:p>
            <a:pPr lvl="1">
              <a:defRPr sz="1800"/>
            </a:pPr>
            <a:r>
              <a:t>Knowledge Cutoff: Trained on static datasets, they lack real-time information.</a:t>
            </a:r>
          </a:p>
          <a:p>
            <a:pPr lvl="1">
              <a:defRPr sz="1800"/>
            </a:pPr>
            <a:r>
              <a:t>Hallucinations: They can generate plausible but incorrect or nonsensical information.</a:t>
            </a:r>
          </a:p>
          <a:p>
            <a:pPr lvl="1">
              <a:defRPr sz="1800"/>
            </a:pPr>
            <a:r>
              <a:t>Lack of Transparency: It's hard to trace the source of their generated answers.</a:t>
            </a:r>
          </a:p>
          <a:p>
            <a:pPr lvl="1">
              <a:defRPr sz="1800"/>
            </a:pPr>
            <a:r>
              <a:t>Generic Responses: Without specific context, their output can be too general.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/>
            </a:pPr>
            <a:r>
              <a:t>Introducing RAG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2000"/>
            </a:pPr>
            <a:r>
              <a:t>RAG is a technique that enhances LLM responses by grounding them in external, up-to-date information.</a:t>
            </a:r>
          </a:p>
          <a:p>
            <a:pPr>
              <a:spcAft>
                <a:spcPts val="1200"/>
              </a:spcAft>
              <a:defRPr sz="2000"/>
            </a:pPr>
            <a:r>
              <a:t>It combines the generative power of LLMs with a retrieval system that fetches relevant information from a knowledge base.</a:t>
            </a:r>
          </a:p>
          <a:p>
            <a:pPr>
              <a:defRPr sz="2000"/>
            </a:pPr>
            <a:r>
              <a:t>Think of it as giving the LLM an 'open-book' exam, where the book is your specific data source.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/>
            </a:pPr>
            <a:r>
              <a:t>How RAG Works: A Simplified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2286000" cy="1371600"/>
          </a:xfrm>
          <a:prstGeom prst="roundRect">
            <a:avLst/>
          </a:prstGeom>
          <a:solidFill>
            <a:srgbClr val="408EC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1. User Query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383280" y="2286000"/>
            <a:ext cx="914400" cy="457200"/>
          </a:xfrm>
          <a:prstGeom prst="rightArrow">
            <a:avLst/>
          </a:prstGeom>
          <a:solidFill>
            <a:srgbClr val="646464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0" y="1828800"/>
            <a:ext cx="2743200" cy="1371600"/>
          </a:xfrm>
          <a:prstGeom prst="round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2. Retrieve Relevant Documents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498079" y="2286000"/>
            <a:ext cx="914400" cy="457200"/>
          </a:xfrm>
          <a:prstGeom prst="rightArrow">
            <a:avLst/>
          </a:prstGeom>
          <a:solidFill>
            <a:srgbClr val="646464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0" y="1828800"/>
            <a:ext cx="2286000" cy="1371600"/>
          </a:xfrm>
          <a:prstGeom prst="roundRect">
            <a:avLst/>
          </a:prstGeom>
          <a:solidFill>
            <a:srgbClr val="408EC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3. Augment Prompt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1155680" y="2286000"/>
            <a:ext cx="914400" cy="457200"/>
          </a:xfrm>
          <a:prstGeom prst="rightArrow">
            <a:avLst/>
          </a:prstGeom>
          <a:solidFill>
            <a:srgbClr val="646464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344400" y="1828800"/>
            <a:ext cx="2286000" cy="1371600"/>
          </a:xfrm>
          <a:prstGeom prst="roundRect">
            <a:avLst/>
          </a:prstGeom>
          <a:solidFill>
            <a:srgbClr val="065A8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4. Generate Answer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/>
            </a:pPr>
            <a:r>
              <a:t>Core Components of a RAG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600"/>
              </a:spcAft>
              <a:defRPr sz="2000" b="1"/>
            </a:pPr>
            <a:r>
              <a:t>Retriever:</a:t>
            </a:r>
          </a:p>
          <a:p>
            <a:pPr lvl="1">
              <a:defRPr sz="1800"/>
            </a:pPr>
            <a:r>
              <a:t>Scans the knowledge base (e.g., documents, databases) to find information relevant to the user's query.</a:t>
            </a:r>
          </a:p>
          <a:p>
            <a:pPr>
              <a:spcAft>
                <a:spcPts val="600"/>
              </a:spcAft>
              <a:defRPr sz="2000" b="1"/>
            </a:pPr>
            <a:r>
              <a:t>Generator:</a:t>
            </a:r>
          </a:p>
          <a:p>
            <a:pPr lvl="1">
              <a:defRPr sz="1800"/>
            </a:pPr>
            <a:r>
              <a:t>An LLM that takes the original query and the retrieved context to produce a coherent, human-like answer.</a:t>
            </a:r>
          </a:p>
          <a:p>
            <a:pPr>
              <a:spcAft>
                <a:spcPts val="600"/>
              </a:spcAft>
              <a:defRPr sz="2000" b="1"/>
            </a:pPr>
            <a:r>
              <a:t>Knowledge Base / Index:</a:t>
            </a:r>
          </a:p>
          <a:p>
            <a:pPr lvl="1">
              <a:defRPr sz="1800"/>
            </a:pPr>
            <a:r>
              <a:t>The external data source, often converted into a searchable vector index for efficient retrieval.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/>
            </a:pPr>
            <a:r>
              <a:t>Key Benefits of Using RAG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600"/>
              </a:spcAft>
              <a:defRPr sz="2000" b="1"/>
            </a:pPr>
            <a:r>
              <a:t>Improved Accuracy &amp; Reduced Hallucinations</a:t>
            </a:r>
          </a:p>
          <a:p>
            <a:pPr lvl="1">
              <a:defRPr sz="1800"/>
            </a:pPr>
            <a:r>
              <a:t>Answers are based on real data, making them more factual and reliable.</a:t>
            </a:r>
          </a:p>
          <a:p>
            <a:pPr>
              <a:spcAft>
                <a:spcPts val="600"/>
              </a:spcAft>
              <a:defRPr sz="2000" b="1"/>
            </a:pPr>
            <a:r>
              <a:t>Access to Real-Time Information</a:t>
            </a:r>
          </a:p>
          <a:p>
            <a:pPr lvl="1">
              <a:defRPr sz="1800"/>
            </a:pPr>
            <a:r>
              <a:t>The knowledge base can be continuously updated, unlike a static LLM.</a:t>
            </a:r>
          </a:p>
          <a:p>
            <a:pPr>
              <a:spcAft>
                <a:spcPts val="600"/>
              </a:spcAft>
              <a:defRPr sz="2000" b="1"/>
            </a:pPr>
            <a:r>
              <a:t>Increased Trust and Transparency</a:t>
            </a:r>
          </a:p>
          <a:p>
            <a:pPr lvl="1">
              <a:defRPr sz="1800"/>
            </a:pPr>
            <a:r>
              <a:t>Systems can cite sources, allowing users to verify the information.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/>
            </a:pPr>
            <a:r>
              <a:t>Common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Customer Support Chatbots</a:t>
            </a:r>
          </a:p>
          <a:p>
            <a:pPr lvl="1">
              <a:defRPr sz="1800"/>
            </a:pPr>
            <a:r>
              <a:t>Answering queries based on product manuals and internal knowledge bases.</a:t>
            </a:r>
          </a:p>
          <a:p>
            <a:pPr>
              <a:defRPr sz="1800"/>
            </a:pPr>
            <a:r>
              <a:t>Enterprise Search</a:t>
            </a:r>
          </a:p>
          <a:p>
            <a:pPr lvl="1">
              <a:defRPr sz="1800"/>
            </a:pPr>
            <a:r>
              <a:t>Helping employees find information within large corporate document repositories.</a:t>
            </a:r>
          </a:p>
          <a:p>
            <a:pPr>
              <a:defRPr sz="1800"/>
            </a:pPr>
            <a:r>
              <a:t>Content Creation &amp; Summarization</a:t>
            </a:r>
          </a:p>
          <a:p>
            <a:pPr lvl="1">
              <a:defRPr sz="1800"/>
            </a:pPr>
            <a:r>
              <a:t>Generating summaries of research papers, news articles, or financial reports.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/>
            </a:pPr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2200"/>
            </a:pPr>
            <a:r>
              <a:t>RAG is a transformative approach that makes LLMs more powerful, reliable, and useful.</a:t>
            </a:r>
          </a:p>
          <a:p>
            <a:pPr>
              <a:spcAft>
                <a:spcPts val="1200"/>
              </a:spcAft>
              <a:defRPr sz="2200"/>
            </a:pPr>
            <a:r>
              <a:t>By connecting them to live, verifiable data sources, RAG unlocks new possibilities for AI applications across industries.</a:t>
            </a:r>
          </a:p>
          <a:p>
            <a:pPr>
              <a:defRPr sz="2200"/>
            </a:pPr>
            <a:r>
              <a:t>It represents a significant step towards creating AI systems that are not just fluent, but also factual and trustworthy.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2801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C8C8C8"/>
                </a:solidFill>
                <a:latin typeface="Arial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