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C7E"/>
        </a:solidFill>
        <a:effectLst/>
      </p:bgPr>
    </p:bg>
    <p:spTree>
      <p:nvGrpSpPr>
        <p:cNvPr id="1" name=""/>
        <p:cNvGrpSpPr/>
        <p:nvPr/>
      </p:nvGrpSpPr>
      <p:grpSpPr/>
      <p:sp>
        <p:nvSpPr>
          <p:cNvPr id="2" name="TextBox 1"/>
          <p:cNvSpPr txBox="1"/>
          <p:nvPr/>
        </p:nvSpPr>
        <p:spPr>
          <a:xfrm>
            <a:off x="914400" y="2743200"/>
            <a:ext cx="12801600" cy="1828800"/>
          </a:xfrm>
          <a:prstGeom prst="rect">
            <a:avLst/>
          </a:prstGeom>
          <a:noFill/>
        </p:spPr>
        <p:txBody>
          <a:bodyPr wrap="none">
            <a:spAutoFit/>
          </a:bodyPr>
          <a:lstStyle/>
          <a:p>
            <a:pPr algn="ctr">
              <a:defRPr sz="6000">
                <a:solidFill>
                  <a:srgbClr val="FCF6F5"/>
                </a:solidFill>
                <a:latin typeface="Arial Black"/>
              </a:defRPr>
            </a:pPr>
            <a:r>
              <a:t>IPL 2026: The Final Showdown</a:t>
            </a:r>
          </a:p>
        </p:txBody>
      </p:sp>
      <p:sp>
        <p:nvSpPr>
          <p:cNvPr id="3" name="TextBox 2"/>
          <p:cNvSpPr txBox="1"/>
          <p:nvPr/>
        </p:nvSpPr>
        <p:spPr>
          <a:xfrm>
            <a:off x="914400" y="4114800"/>
            <a:ext cx="12801600" cy="914400"/>
          </a:xfrm>
          <a:prstGeom prst="rect">
            <a:avLst/>
          </a:prstGeom>
          <a:noFill/>
        </p:spPr>
        <p:txBody>
          <a:bodyPr wrap="none">
            <a:spAutoFit/>
          </a:bodyPr>
          <a:lstStyle/>
          <a:p>
            <a:pPr algn="ctr">
              <a:defRPr sz="2400">
                <a:solidFill>
                  <a:srgbClr val="FCF6F5"/>
                </a:solidFill>
                <a:latin typeface="Calibri Light"/>
              </a:defRPr>
            </a:pPr>
            <a:r>
              <a:t>A High-Stakes Look at the Final League Stage Matches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6F5"/>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bIns="0" tIns="0">
            <a:spAutoFit/>
          </a:bodyPr>
          <a:lstStyle/>
          <a:p>
            <a:pPr algn="l">
              <a:defRPr sz="3600" b="1">
                <a:solidFill>
                  <a:srgbClr val="2F3C7E"/>
                </a:solidFill>
                <a:latin typeface="Arial Black"/>
              </a:defRPr>
            </a:pPr>
            <a:r>
              <a:t>The Final Week: Setting the Stage</a:t>
            </a:r>
          </a:p>
        </p:txBody>
      </p:sp>
      <p:sp>
        <p:nvSpPr>
          <p:cNvPr id="3" name="TextBox 2"/>
          <p:cNvSpPr txBox="1"/>
          <p:nvPr/>
        </p:nvSpPr>
        <p:spPr>
          <a:xfrm>
            <a:off x="685800" y="1371600"/>
            <a:ext cx="13258800" cy="1828800"/>
          </a:xfrm>
          <a:prstGeom prst="rect">
            <a:avLst/>
          </a:prstGeom>
          <a:noFill/>
        </p:spPr>
        <p:txBody>
          <a:bodyPr wrap="square">
            <a:spAutoFit/>
          </a:bodyPr>
          <a:lstStyle/>
          <a:p>
            <a:pPr>
              <a:defRPr sz="2000" b="0">
                <a:solidFill>
                  <a:srgbClr val="333333"/>
                </a:solidFill>
                <a:latin typeface="Calibri"/>
              </a:defRPr>
            </a:pPr>
            <a:r>
              <a:t>The final week of the IPL 2026 league stage, from May 18 to May 24, was a spectacle of high-stakes cricket. With two teams already qualified, seven teams entered the week with their playoff hopes on the line. This presentation breaks down the crucial matches that determined the final playoff lineup.</a:t>
            </a:r>
          </a:p>
        </p:txBody>
      </p:sp>
      <p:sp>
        <p:nvSpPr>
          <p:cNvPr id="4" name="TextBox 3"/>
          <p:cNvSpPr txBox="1"/>
          <p:nvPr/>
        </p:nvSpPr>
        <p:spPr>
          <a:xfrm>
            <a:off x="685800" y="3200400"/>
            <a:ext cx="4572000" cy="457200"/>
          </a:xfrm>
          <a:prstGeom prst="rect">
            <a:avLst/>
          </a:prstGeom>
          <a:noFill/>
        </p:spPr>
        <p:txBody>
          <a:bodyPr wrap="square">
            <a:spAutoFit/>
          </a:bodyPr>
          <a:lstStyle/>
          <a:p>
            <a:pPr>
              <a:defRPr sz="2200" b="1">
                <a:solidFill>
                  <a:srgbClr val="2F3C7E"/>
                </a:solidFill>
                <a:latin typeface="Calibri"/>
              </a:defRPr>
            </a:pPr>
            <a:r>
              <a:t>This presentation covers:</a:t>
            </a:r>
          </a:p>
        </p:txBody>
      </p:sp>
      <p:sp>
        <p:nvSpPr>
          <p:cNvPr id="5" name="TextBox 4"/>
          <p:cNvSpPr txBox="1"/>
          <p:nvPr/>
        </p:nvSpPr>
        <p:spPr>
          <a:xfrm>
            <a:off x="914400" y="3840480"/>
            <a:ext cx="12801600" cy="2743200"/>
          </a:xfrm>
          <a:prstGeom prst="rect">
            <a:avLst/>
          </a:prstGeom>
          <a:noFill/>
        </p:spPr>
        <p:txBody>
          <a:bodyPr wrap="square">
            <a:spAutoFit/>
          </a:bodyPr>
          <a:lstStyle/>
          <a:p>
            <a:pPr>
              <a:defRPr sz="2000" b="0">
                <a:solidFill>
                  <a:srgbClr val="333333"/>
                </a:solidFill>
                <a:latin typeface="Calibri"/>
              </a:defRPr>
            </a:pPr>
            <a:r>
              <a:t>• The Playoff Scenario</a:t>
            </a:r>
            <a:br/>
            <a:r>
              <a:t>• Weekday Match-Ups</a:t>
            </a:r>
            <a:br/>
            <a:r>
              <a:t>• The Decisive Weekend</a:t>
            </a:r>
            <a:br/>
            <a:r>
              <a:t>• The Road Ahead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6F5"/>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bIns="0" tIns="0">
            <a:spAutoFit/>
          </a:bodyPr>
          <a:lstStyle/>
          <a:p>
            <a:pPr algn="l">
              <a:defRPr sz="3600" b="1">
                <a:solidFill>
                  <a:srgbClr val="2F3C7E"/>
                </a:solidFill>
                <a:latin typeface="Arial Black"/>
              </a:defRPr>
            </a:pPr>
            <a:r>
              <a:t>The Playoff Race: As It Stood</a:t>
            </a:r>
          </a:p>
        </p:txBody>
      </p:sp>
      <p:sp>
        <p:nvSpPr>
          <p:cNvPr id="3" name="TextBox 2"/>
          <p:cNvSpPr txBox="1"/>
          <p:nvPr/>
        </p:nvSpPr>
        <p:spPr>
          <a:xfrm>
            <a:off x="685800" y="1371600"/>
            <a:ext cx="6400800" cy="1828800"/>
          </a:xfrm>
          <a:prstGeom prst="rect">
            <a:avLst/>
          </a:prstGeom>
          <a:noFill/>
        </p:spPr>
        <p:txBody>
          <a:bodyPr wrap="square">
            <a:spAutoFit/>
          </a:bodyPr>
          <a:lstStyle/>
          <a:p>
            <a:pPr>
              <a:defRPr sz="1800" b="0">
                <a:solidFill>
                  <a:srgbClr val="333333"/>
                </a:solidFill>
                <a:latin typeface="Calibri"/>
              </a:defRPr>
            </a:pPr>
            <a:r>
              <a:t>Entering the final week, the playoff picture was intensely competitive. Royal Challengers Bengaluru and Gujarat Titans had already secured their spots, leaving two coveted positions open.</a:t>
            </a:r>
          </a:p>
        </p:txBody>
      </p:sp>
      <p:sp>
        <p:nvSpPr>
          <p:cNvPr id="4" name="Rounded Rectangle 3"/>
          <p:cNvSpPr/>
          <p:nvPr/>
        </p:nvSpPr>
        <p:spPr>
          <a:xfrm>
            <a:off x="7772400" y="1371600"/>
            <a:ext cx="5943600" cy="2286000"/>
          </a:xfrm>
          <a:prstGeom prst="roundRect">
            <a:avLst/>
          </a:prstGeom>
          <a:noFill/>
          <a:ln w="19050">
            <a:solidFill>
              <a:srgbClr val="364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0" y="1600200"/>
            <a:ext cx="5486400" cy="457200"/>
          </a:xfrm>
          <a:prstGeom prst="rect">
            <a:avLst/>
          </a:prstGeom>
          <a:noFill/>
        </p:spPr>
        <p:txBody>
          <a:bodyPr wrap="none">
            <a:spAutoFit/>
          </a:bodyPr>
          <a:lstStyle/>
          <a:p>
            <a:pPr>
              <a:defRPr sz="2000">
                <a:solidFill>
                  <a:srgbClr val="990011"/>
                </a:solidFill>
                <a:latin typeface="Arial Black"/>
              </a:defRPr>
            </a:pPr>
            <a:r>
              <a:t>ALREADY QUALIFIED</a:t>
            </a:r>
          </a:p>
        </p:txBody>
      </p:sp>
      <p:sp>
        <p:nvSpPr>
          <p:cNvPr id="6" name="TextBox 5"/>
          <p:cNvSpPr txBox="1"/>
          <p:nvPr/>
        </p:nvSpPr>
        <p:spPr>
          <a:xfrm>
            <a:off x="8229600" y="2286000"/>
            <a:ext cx="5486400" cy="1371600"/>
          </a:xfrm>
          <a:prstGeom prst="rect">
            <a:avLst/>
          </a:prstGeom>
          <a:noFill/>
        </p:spPr>
        <p:txBody>
          <a:bodyPr wrap="square">
            <a:spAutoFit/>
          </a:bodyPr>
          <a:lstStyle/>
          <a:p>
            <a:pPr>
              <a:defRPr sz="1800" b="0">
                <a:solidFill>
                  <a:srgbClr val="333333"/>
                </a:solidFill>
                <a:latin typeface="Calibri"/>
              </a:defRPr>
            </a:pPr>
            <a:r>
              <a:t>1. Royal Challengers Bengaluru</a:t>
            </a:r>
            <a:br/>
            <a:r>
              <a:t>2. Gujarat Titans</a:t>
            </a:r>
          </a:p>
        </p:txBody>
      </p:sp>
      <p:sp>
        <p:nvSpPr>
          <p:cNvPr id="7" name="Rounded Rectangle 6"/>
          <p:cNvSpPr/>
          <p:nvPr/>
        </p:nvSpPr>
        <p:spPr>
          <a:xfrm>
            <a:off x="685800" y="3657600"/>
            <a:ext cx="13258800" cy="3200400"/>
          </a:xfrm>
          <a:prstGeom prst="roundRect">
            <a:avLst/>
          </a:prstGeom>
          <a:noFill/>
          <a:ln w="19050">
            <a:solidFill>
              <a:srgbClr val="364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86200"/>
            <a:ext cx="12801600" cy="457200"/>
          </a:xfrm>
          <a:prstGeom prst="rect">
            <a:avLst/>
          </a:prstGeom>
          <a:noFill/>
        </p:spPr>
        <p:txBody>
          <a:bodyPr wrap="none">
            <a:spAutoFit/>
          </a:bodyPr>
          <a:lstStyle/>
          <a:p>
            <a:pPr>
              <a:defRPr sz="2000">
                <a:solidFill>
                  <a:srgbClr val="2F3C7E"/>
                </a:solidFill>
                <a:latin typeface="Arial Black"/>
              </a:defRPr>
            </a:pPr>
            <a:r>
              <a:t>SEVEN TEAMS IN CONTENTION</a:t>
            </a:r>
          </a:p>
        </p:txBody>
      </p:sp>
      <p:sp>
        <p:nvSpPr>
          <p:cNvPr id="9" name="TextBox 8"/>
          <p:cNvSpPr txBox="1"/>
          <p:nvPr/>
        </p:nvSpPr>
        <p:spPr>
          <a:xfrm>
            <a:off x="914400" y="4572000"/>
            <a:ext cx="12801600" cy="1828800"/>
          </a:xfrm>
          <a:prstGeom prst="rect">
            <a:avLst/>
          </a:prstGeom>
          <a:noFill/>
        </p:spPr>
        <p:txBody>
          <a:bodyPr wrap="square">
            <a:spAutoFit/>
          </a:bodyPr>
          <a:lstStyle/>
          <a:p>
            <a:pPr>
              <a:defRPr sz="1800" b="0">
                <a:solidFill>
                  <a:srgbClr val="333333"/>
                </a:solidFill>
                <a:latin typeface="Calibri"/>
              </a:defRPr>
            </a:pPr>
            <a:r>
              <a:t>The remaining seven teams faced a series of must-win games, where every run and every wicket could shift the final standings and decide their fate in the tournament.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6F5"/>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bIns="0" tIns="0">
            <a:spAutoFit/>
          </a:bodyPr>
          <a:lstStyle/>
          <a:p>
            <a:pPr algn="l">
              <a:defRPr sz="3600" b="1">
                <a:solidFill>
                  <a:srgbClr val="2F3C7E"/>
                </a:solidFill>
                <a:latin typeface="Arial Black"/>
              </a:defRPr>
            </a:pPr>
            <a:r>
              <a:t>Crucial Clashes: Mid-Week Fixtures</a:t>
            </a:r>
          </a:p>
        </p:txBody>
      </p:sp>
      <p:sp>
        <p:nvSpPr>
          <p:cNvPr id="3" name="TextBox 2"/>
          <p:cNvSpPr txBox="1"/>
          <p:nvPr/>
        </p:nvSpPr>
        <p:spPr>
          <a:xfrm>
            <a:off x="685800" y="1371600"/>
            <a:ext cx="1828800" cy="457200"/>
          </a:xfrm>
          <a:prstGeom prst="rect">
            <a:avLst/>
          </a:prstGeom>
          <a:noFill/>
        </p:spPr>
        <p:txBody>
          <a:bodyPr wrap="square">
            <a:spAutoFit/>
          </a:bodyPr>
          <a:lstStyle/>
          <a:p>
            <a:pPr>
              <a:defRPr sz="1800" b="1">
                <a:solidFill>
                  <a:srgbClr val="990011"/>
                </a:solidFill>
                <a:latin typeface="Calibri"/>
              </a:defRPr>
            </a:pPr>
            <a:r>
              <a:t>May 18</a:t>
            </a:r>
          </a:p>
        </p:txBody>
      </p:sp>
      <p:sp>
        <p:nvSpPr>
          <p:cNvPr id="4" name="TextBox 3"/>
          <p:cNvSpPr txBox="1"/>
          <p:nvPr/>
        </p:nvSpPr>
        <p:spPr>
          <a:xfrm>
            <a:off x="2743200" y="1371600"/>
            <a:ext cx="7315200" cy="457200"/>
          </a:xfrm>
          <a:prstGeom prst="rect">
            <a:avLst/>
          </a:prstGeom>
          <a:noFill/>
        </p:spPr>
        <p:txBody>
          <a:bodyPr wrap="square">
            <a:spAutoFit/>
          </a:bodyPr>
          <a:lstStyle/>
          <a:p>
            <a:pPr>
              <a:defRPr sz="1800" b="1">
                <a:solidFill>
                  <a:srgbClr val="333333"/>
                </a:solidFill>
                <a:latin typeface="Calibri"/>
              </a:defRPr>
            </a:pPr>
            <a:r>
              <a:t>Chennai Super Kings vs. Sunrisers Hyderabad</a:t>
            </a:r>
          </a:p>
        </p:txBody>
      </p:sp>
      <p:sp>
        <p:nvSpPr>
          <p:cNvPr id="5" name="TextBox 4"/>
          <p:cNvSpPr txBox="1"/>
          <p:nvPr/>
        </p:nvSpPr>
        <p:spPr>
          <a:xfrm>
            <a:off x="2743200" y="1737360"/>
            <a:ext cx="7315200" cy="457200"/>
          </a:xfrm>
          <a:prstGeom prst="rect">
            <a:avLst/>
          </a:prstGeom>
          <a:noFill/>
        </p:spPr>
        <p:txBody>
          <a:bodyPr wrap="square">
            <a:spAutoFit/>
          </a:bodyPr>
          <a:lstStyle/>
          <a:p>
            <a:pPr>
              <a:defRPr sz="1400" b="0">
                <a:solidFill>
                  <a:srgbClr val="36454F"/>
                </a:solidFill>
                <a:latin typeface="Calibri"/>
              </a:defRPr>
            </a:pPr>
            <a:r>
              <a:t>MA Chidambaram Stadium, Chennai</a:t>
            </a:r>
          </a:p>
        </p:txBody>
      </p:sp>
      <p:sp>
        <p:nvSpPr>
          <p:cNvPr id="6" name="TextBox 5"/>
          <p:cNvSpPr txBox="1"/>
          <p:nvPr/>
        </p:nvSpPr>
        <p:spPr>
          <a:xfrm>
            <a:off x="685800" y="2743200"/>
            <a:ext cx="1828800" cy="457200"/>
          </a:xfrm>
          <a:prstGeom prst="rect">
            <a:avLst/>
          </a:prstGeom>
          <a:noFill/>
        </p:spPr>
        <p:txBody>
          <a:bodyPr wrap="square">
            <a:spAutoFit/>
          </a:bodyPr>
          <a:lstStyle/>
          <a:p>
            <a:pPr>
              <a:defRPr sz="1800" b="1">
                <a:solidFill>
                  <a:srgbClr val="990011"/>
                </a:solidFill>
                <a:latin typeface="Calibri"/>
              </a:defRPr>
            </a:pPr>
            <a:r>
              <a:t>May 19</a:t>
            </a:r>
          </a:p>
        </p:txBody>
      </p:sp>
      <p:sp>
        <p:nvSpPr>
          <p:cNvPr id="7" name="TextBox 6"/>
          <p:cNvSpPr txBox="1"/>
          <p:nvPr/>
        </p:nvSpPr>
        <p:spPr>
          <a:xfrm>
            <a:off x="2743200" y="2743200"/>
            <a:ext cx="7315200" cy="457200"/>
          </a:xfrm>
          <a:prstGeom prst="rect">
            <a:avLst/>
          </a:prstGeom>
          <a:noFill/>
        </p:spPr>
        <p:txBody>
          <a:bodyPr wrap="square">
            <a:spAutoFit/>
          </a:bodyPr>
          <a:lstStyle/>
          <a:p>
            <a:pPr>
              <a:defRPr sz="1800" b="1">
                <a:solidFill>
                  <a:srgbClr val="333333"/>
                </a:solidFill>
                <a:latin typeface="Calibri"/>
              </a:defRPr>
            </a:pPr>
            <a:r>
              <a:t>Kolkata Knight Riders vs. Mumbai Indians</a:t>
            </a:r>
          </a:p>
        </p:txBody>
      </p:sp>
      <p:sp>
        <p:nvSpPr>
          <p:cNvPr id="8" name="TextBox 7"/>
          <p:cNvSpPr txBox="1"/>
          <p:nvPr/>
        </p:nvSpPr>
        <p:spPr>
          <a:xfrm>
            <a:off x="2743200" y="3108960"/>
            <a:ext cx="7315200" cy="457200"/>
          </a:xfrm>
          <a:prstGeom prst="rect">
            <a:avLst/>
          </a:prstGeom>
          <a:noFill/>
        </p:spPr>
        <p:txBody>
          <a:bodyPr wrap="square">
            <a:spAutoFit/>
          </a:bodyPr>
          <a:lstStyle/>
          <a:p>
            <a:pPr>
              <a:defRPr sz="1400" b="0">
                <a:solidFill>
                  <a:srgbClr val="36454F"/>
                </a:solidFill>
                <a:latin typeface="Calibri"/>
              </a:defRPr>
            </a:pPr>
            <a:r>
              <a:t>Eden Gardens, Kolkata</a:t>
            </a:r>
          </a:p>
        </p:txBody>
      </p:sp>
      <p:sp>
        <p:nvSpPr>
          <p:cNvPr id="9" name="TextBox 8"/>
          <p:cNvSpPr txBox="1"/>
          <p:nvPr/>
        </p:nvSpPr>
        <p:spPr>
          <a:xfrm>
            <a:off x="685800" y="4114800"/>
            <a:ext cx="1828800" cy="457200"/>
          </a:xfrm>
          <a:prstGeom prst="rect">
            <a:avLst/>
          </a:prstGeom>
          <a:noFill/>
        </p:spPr>
        <p:txBody>
          <a:bodyPr wrap="square">
            <a:spAutoFit/>
          </a:bodyPr>
          <a:lstStyle/>
          <a:p>
            <a:pPr>
              <a:defRPr sz="1800" b="1">
                <a:solidFill>
                  <a:srgbClr val="990011"/>
                </a:solidFill>
                <a:latin typeface="Calibri"/>
              </a:defRPr>
            </a:pPr>
            <a:r>
              <a:t>May 21</a:t>
            </a:r>
          </a:p>
        </p:txBody>
      </p:sp>
      <p:sp>
        <p:nvSpPr>
          <p:cNvPr id="10" name="TextBox 9"/>
          <p:cNvSpPr txBox="1"/>
          <p:nvPr/>
        </p:nvSpPr>
        <p:spPr>
          <a:xfrm>
            <a:off x="2743200" y="4114800"/>
            <a:ext cx="7315200" cy="457200"/>
          </a:xfrm>
          <a:prstGeom prst="rect">
            <a:avLst/>
          </a:prstGeom>
          <a:noFill/>
        </p:spPr>
        <p:txBody>
          <a:bodyPr wrap="square">
            <a:spAutoFit/>
          </a:bodyPr>
          <a:lstStyle/>
          <a:p>
            <a:pPr>
              <a:defRPr sz="1800" b="1">
                <a:solidFill>
                  <a:srgbClr val="333333"/>
                </a:solidFill>
                <a:latin typeface="Calibri"/>
              </a:defRPr>
            </a:pPr>
            <a:r>
              <a:t>Gujarat Titans vs. Chennai Super Kings</a:t>
            </a:r>
          </a:p>
        </p:txBody>
      </p:sp>
      <p:sp>
        <p:nvSpPr>
          <p:cNvPr id="11" name="TextBox 10"/>
          <p:cNvSpPr txBox="1"/>
          <p:nvPr/>
        </p:nvSpPr>
        <p:spPr>
          <a:xfrm>
            <a:off x="2743200" y="4480560"/>
            <a:ext cx="7315200" cy="457200"/>
          </a:xfrm>
          <a:prstGeom prst="rect">
            <a:avLst/>
          </a:prstGeom>
          <a:noFill/>
        </p:spPr>
        <p:txBody>
          <a:bodyPr wrap="square">
            <a:spAutoFit/>
          </a:bodyPr>
          <a:lstStyle/>
          <a:p>
            <a:pPr>
              <a:defRPr sz="1400" b="0">
                <a:solidFill>
                  <a:srgbClr val="36454F"/>
                </a:solidFill>
                <a:latin typeface="Calibri"/>
              </a:defRPr>
            </a:pPr>
            <a:r>
              <a:t>Narendra Modi Stadium, Ahmedabad</a:t>
            </a:r>
          </a:p>
        </p:txBody>
      </p:sp>
      <p:sp>
        <p:nvSpPr>
          <p:cNvPr id="12" name="TextBox 11"/>
          <p:cNvSpPr txBox="1"/>
          <p:nvPr/>
        </p:nvSpPr>
        <p:spPr>
          <a:xfrm>
            <a:off x="685800" y="5486400"/>
            <a:ext cx="1828800" cy="457200"/>
          </a:xfrm>
          <a:prstGeom prst="rect">
            <a:avLst/>
          </a:prstGeom>
          <a:noFill/>
        </p:spPr>
        <p:txBody>
          <a:bodyPr wrap="square">
            <a:spAutoFit/>
          </a:bodyPr>
          <a:lstStyle/>
          <a:p>
            <a:pPr>
              <a:defRPr sz="1800" b="1">
                <a:solidFill>
                  <a:srgbClr val="990011"/>
                </a:solidFill>
                <a:latin typeface="Calibri"/>
              </a:defRPr>
            </a:pPr>
            <a:r>
              <a:t>May 22</a:t>
            </a:r>
          </a:p>
        </p:txBody>
      </p:sp>
      <p:sp>
        <p:nvSpPr>
          <p:cNvPr id="13" name="TextBox 12"/>
          <p:cNvSpPr txBox="1"/>
          <p:nvPr/>
        </p:nvSpPr>
        <p:spPr>
          <a:xfrm>
            <a:off x="2743200" y="5486400"/>
            <a:ext cx="7315200" cy="457200"/>
          </a:xfrm>
          <a:prstGeom prst="rect">
            <a:avLst/>
          </a:prstGeom>
          <a:noFill/>
        </p:spPr>
        <p:txBody>
          <a:bodyPr wrap="square">
            <a:spAutoFit/>
          </a:bodyPr>
          <a:lstStyle/>
          <a:p>
            <a:pPr>
              <a:defRPr sz="1800" b="1">
                <a:solidFill>
                  <a:srgbClr val="333333"/>
                </a:solidFill>
                <a:latin typeface="Calibri"/>
              </a:defRPr>
            </a:pPr>
            <a:r>
              <a:t>Sunrisers Hyderabad vs. Royal Challengers Bengaluru</a:t>
            </a:r>
          </a:p>
        </p:txBody>
      </p:sp>
      <p:sp>
        <p:nvSpPr>
          <p:cNvPr id="14" name="TextBox 13"/>
          <p:cNvSpPr txBox="1"/>
          <p:nvPr/>
        </p:nvSpPr>
        <p:spPr>
          <a:xfrm>
            <a:off x="2743200" y="5852160"/>
            <a:ext cx="7315200" cy="457200"/>
          </a:xfrm>
          <a:prstGeom prst="rect">
            <a:avLst/>
          </a:prstGeom>
          <a:noFill/>
        </p:spPr>
        <p:txBody>
          <a:bodyPr wrap="square">
            <a:spAutoFit/>
          </a:bodyPr>
          <a:lstStyle/>
          <a:p>
            <a:pPr>
              <a:defRPr sz="1400" b="0">
                <a:solidFill>
                  <a:srgbClr val="36454F"/>
                </a:solidFill>
                <a:latin typeface="Calibri"/>
              </a:defRPr>
            </a:pPr>
            <a:r>
              <a:t>Rajiv Gandhi International Stadium, Hyderabad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6F5"/>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bIns="0" tIns="0">
            <a:spAutoFit/>
          </a:bodyPr>
          <a:lstStyle/>
          <a:p>
            <a:pPr algn="l">
              <a:defRPr sz="3600" b="1">
                <a:solidFill>
                  <a:srgbClr val="2F3C7E"/>
                </a:solidFill>
                <a:latin typeface="Arial Black"/>
              </a:defRPr>
            </a:pPr>
            <a:r>
              <a:t>The Final Weekend: Down to the Wire</a:t>
            </a:r>
          </a:p>
        </p:txBody>
      </p:sp>
      <p:sp>
        <p:nvSpPr>
          <p:cNvPr id="3" name="TextBox 2"/>
          <p:cNvSpPr txBox="1"/>
          <p:nvPr/>
        </p:nvSpPr>
        <p:spPr>
          <a:xfrm>
            <a:off x="685800" y="1371600"/>
            <a:ext cx="1828800" cy="457200"/>
          </a:xfrm>
          <a:prstGeom prst="rect">
            <a:avLst/>
          </a:prstGeom>
          <a:noFill/>
        </p:spPr>
        <p:txBody>
          <a:bodyPr wrap="square">
            <a:spAutoFit/>
          </a:bodyPr>
          <a:lstStyle/>
          <a:p>
            <a:pPr>
              <a:defRPr sz="1800" b="1">
                <a:solidFill>
                  <a:srgbClr val="990011"/>
                </a:solidFill>
                <a:latin typeface="Calibri"/>
              </a:defRPr>
            </a:pPr>
            <a:r>
              <a:t>May 23</a:t>
            </a:r>
          </a:p>
        </p:txBody>
      </p:sp>
      <p:sp>
        <p:nvSpPr>
          <p:cNvPr id="4" name="TextBox 3"/>
          <p:cNvSpPr txBox="1"/>
          <p:nvPr/>
        </p:nvSpPr>
        <p:spPr>
          <a:xfrm>
            <a:off x="2743200" y="1371600"/>
            <a:ext cx="7315200" cy="457200"/>
          </a:xfrm>
          <a:prstGeom prst="rect">
            <a:avLst/>
          </a:prstGeom>
          <a:noFill/>
        </p:spPr>
        <p:txBody>
          <a:bodyPr wrap="square">
            <a:spAutoFit/>
          </a:bodyPr>
          <a:lstStyle/>
          <a:p>
            <a:pPr>
              <a:defRPr sz="1800" b="1">
                <a:solidFill>
                  <a:srgbClr val="333333"/>
                </a:solidFill>
                <a:latin typeface="Calibri"/>
              </a:defRPr>
            </a:pPr>
            <a:r>
              <a:t>Lucknow Super Giants vs. Punjab Kings</a:t>
            </a:r>
          </a:p>
        </p:txBody>
      </p:sp>
      <p:sp>
        <p:nvSpPr>
          <p:cNvPr id="5" name="TextBox 4"/>
          <p:cNvSpPr txBox="1"/>
          <p:nvPr/>
        </p:nvSpPr>
        <p:spPr>
          <a:xfrm>
            <a:off x="2743200" y="1737360"/>
            <a:ext cx="7315200" cy="457200"/>
          </a:xfrm>
          <a:prstGeom prst="rect">
            <a:avLst/>
          </a:prstGeom>
          <a:noFill/>
        </p:spPr>
        <p:txBody>
          <a:bodyPr wrap="square">
            <a:spAutoFit/>
          </a:bodyPr>
          <a:lstStyle/>
          <a:p>
            <a:pPr>
              <a:defRPr sz="1400" b="0">
                <a:solidFill>
                  <a:srgbClr val="36454F"/>
                </a:solidFill>
                <a:latin typeface="Calibri"/>
              </a:defRPr>
            </a:pPr>
            <a:r>
              <a:t>BRSABV Ekana Cricket Stadium, Lucknow</a:t>
            </a:r>
          </a:p>
        </p:txBody>
      </p:sp>
      <p:sp>
        <p:nvSpPr>
          <p:cNvPr id="6" name="TextBox 5"/>
          <p:cNvSpPr txBox="1"/>
          <p:nvPr/>
        </p:nvSpPr>
        <p:spPr>
          <a:xfrm>
            <a:off x="11887200" y="2743200"/>
            <a:ext cx="2743200" cy="457200"/>
          </a:xfrm>
          <a:prstGeom prst="rect">
            <a:avLst/>
          </a:prstGeom>
          <a:noFill/>
        </p:spPr>
        <p:txBody>
          <a:bodyPr wrap="square">
            <a:spAutoFit/>
          </a:bodyPr>
          <a:lstStyle/>
          <a:p>
            <a:pPr>
              <a:defRPr sz="1600" b="1">
                <a:solidFill>
                  <a:srgbClr val="2F3C7E"/>
                </a:solidFill>
                <a:latin typeface="Calibri"/>
              </a:defRPr>
            </a:pPr>
            <a:r>
              <a:t>Double-Header</a:t>
            </a:r>
          </a:p>
        </p:txBody>
      </p:sp>
      <p:sp>
        <p:nvSpPr>
          <p:cNvPr id="7" name="TextBox 6"/>
          <p:cNvSpPr txBox="1"/>
          <p:nvPr/>
        </p:nvSpPr>
        <p:spPr>
          <a:xfrm>
            <a:off x="685800" y="2743200"/>
            <a:ext cx="1828800" cy="457200"/>
          </a:xfrm>
          <a:prstGeom prst="rect">
            <a:avLst/>
          </a:prstGeom>
          <a:noFill/>
        </p:spPr>
        <p:txBody>
          <a:bodyPr wrap="square">
            <a:spAutoFit/>
          </a:bodyPr>
          <a:lstStyle/>
          <a:p>
            <a:pPr>
              <a:defRPr sz="1800" b="1">
                <a:solidFill>
                  <a:srgbClr val="990011"/>
                </a:solidFill>
                <a:latin typeface="Calibri"/>
              </a:defRPr>
            </a:pPr>
            <a:r>
              <a:t>May 24</a:t>
            </a:r>
          </a:p>
        </p:txBody>
      </p:sp>
      <p:sp>
        <p:nvSpPr>
          <p:cNvPr id="8" name="TextBox 7"/>
          <p:cNvSpPr txBox="1"/>
          <p:nvPr/>
        </p:nvSpPr>
        <p:spPr>
          <a:xfrm>
            <a:off x="2743200" y="2743200"/>
            <a:ext cx="7315200" cy="457200"/>
          </a:xfrm>
          <a:prstGeom prst="rect">
            <a:avLst/>
          </a:prstGeom>
          <a:noFill/>
        </p:spPr>
        <p:txBody>
          <a:bodyPr wrap="square">
            <a:spAutoFit/>
          </a:bodyPr>
          <a:lstStyle/>
          <a:p>
            <a:pPr>
              <a:defRPr sz="1800" b="1">
                <a:solidFill>
                  <a:srgbClr val="333333"/>
                </a:solidFill>
                <a:latin typeface="Calibri"/>
              </a:defRPr>
            </a:pPr>
            <a:r>
              <a:t>Mumbai Indians vs. Rajasthan Royals</a:t>
            </a:r>
          </a:p>
        </p:txBody>
      </p:sp>
      <p:sp>
        <p:nvSpPr>
          <p:cNvPr id="9" name="TextBox 8"/>
          <p:cNvSpPr txBox="1"/>
          <p:nvPr/>
        </p:nvSpPr>
        <p:spPr>
          <a:xfrm>
            <a:off x="2743200" y="3108960"/>
            <a:ext cx="7315200" cy="457200"/>
          </a:xfrm>
          <a:prstGeom prst="rect">
            <a:avLst/>
          </a:prstGeom>
          <a:noFill/>
        </p:spPr>
        <p:txBody>
          <a:bodyPr wrap="square">
            <a:spAutoFit/>
          </a:bodyPr>
          <a:lstStyle/>
          <a:p>
            <a:pPr>
              <a:defRPr sz="1400" b="0">
                <a:solidFill>
                  <a:srgbClr val="36454F"/>
                </a:solidFill>
                <a:latin typeface="Calibri"/>
              </a:defRPr>
            </a:pPr>
            <a:r>
              <a:t>Wankhede Stadium, Mumbai</a:t>
            </a:r>
          </a:p>
        </p:txBody>
      </p:sp>
      <p:sp>
        <p:nvSpPr>
          <p:cNvPr id="10" name="TextBox 9"/>
          <p:cNvSpPr txBox="1"/>
          <p:nvPr/>
        </p:nvSpPr>
        <p:spPr>
          <a:xfrm>
            <a:off x="685800" y="4114800"/>
            <a:ext cx="1828800" cy="457200"/>
          </a:xfrm>
          <a:prstGeom prst="rect">
            <a:avLst/>
          </a:prstGeom>
          <a:noFill/>
        </p:spPr>
        <p:txBody>
          <a:bodyPr wrap="square">
            <a:spAutoFit/>
          </a:bodyPr>
          <a:lstStyle/>
          <a:p>
            <a:pPr>
              <a:defRPr sz="1800" b="1">
                <a:solidFill>
                  <a:srgbClr val="990011"/>
                </a:solidFill>
                <a:latin typeface="Calibri"/>
              </a:defRPr>
            </a:pPr>
            <a:r>
              <a:t>May 24</a:t>
            </a:r>
          </a:p>
        </p:txBody>
      </p:sp>
      <p:sp>
        <p:nvSpPr>
          <p:cNvPr id="11" name="TextBox 10"/>
          <p:cNvSpPr txBox="1"/>
          <p:nvPr/>
        </p:nvSpPr>
        <p:spPr>
          <a:xfrm>
            <a:off x="2743200" y="4114800"/>
            <a:ext cx="7315200" cy="457200"/>
          </a:xfrm>
          <a:prstGeom prst="rect">
            <a:avLst/>
          </a:prstGeom>
          <a:noFill/>
        </p:spPr>
        <p:txBody>
          <a:bodyPr wrap="square">
            <a:spAutoFit/>
          </a:bodyPr>
          <a:lstStyle/>
          <a:p>
            <a:pPr>
              <a:defRPr sz="1800" b="1">
                <a:solidFill>
                  <a:srgbClr val="333333"/>
                </a:solidFill>
                <a:latin typeface="Calibri"/>
              </a:defRPr>
            </a:pPr>
            <a:r>
              <a:t>Kolkata Knight Riders vs. Delhi Capitals</a:t>
            </a:r>
          </a:p>
        </p:txBody>
      </p:sp>
      <p:sp>
        <p:nvSpPr>
          <p:cNvPr id="12" name="TextBox 11"/>
          <p:cNvSpPr txBox="1"/>
          <p:nvPr/>
        </p:nvSpPr>
        <p:spPr>
          <a:xfrm>
            <a:off x="2743200" y="4480560"/>
            <a:ext cx="7315200" cy="457200"/>
          </a:xfrm>
          <a:prstGeom prst="rect">
            <a:avLst/>
          </a:prstGeom>
          <a:noFill/>
        </p:spPr>
        <p:txBody>
          <a:bodyPr wrap="square">
            <a:spAutoFit/>
          </a:bodyPr>
          <a:lstStyle/>
          <a:p>
            <a:pPr>
              <a:defRPr sz="1400" b="0">
                <a:solidFill>
                  <a:srgbClr val="36454F"/>
                </a:solidFill>
                <a:latin typeface="Calibri"/>
              </a:defRPr>
            </a:pPr>
            <a:r>
              <a:t>Eden Gardens, Kolkata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6F5"/>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bIns="0" tIns="0">
            <a:spAutoFit/>
          </a:bodyPr>
          <a:lstStyle/>
          <a:p>
            <a:pPr algn="l">
              <a:defRPr sz="3600" b="1">
                <a:solidFill>
                  <a:srgbClr val="2F3C7E"/>
                </a:solidFill>
                <a:latin typeface="Arial Black"/>
              </a:defRPr>
            </a:pPr>
            <a:r>
              <a:t>The Road Ahead: Playoff Schedule</a:t>
            </a:r>
          </a:p>
        </p:txBody>
      </p:sp>
      <p:sp>
        <p:nvSpPr>
          <p:cNvPr id="3" name="TextBox 2"/>
          <p:cNvSpPr txBox="1"/>
          <p:nvPr/>
        </p:nvSpPr>
        <p:spPr>
          <a:xfrm>
            <a:off x="685800" y="1371600"/>
            <a:ext cx="13258800" cy="1371600"/>
          </a:xfrm>
          <a:prstGeom prst="rect">
            <a:avLst/>
          </a:prstGeom>
          <a:noFill/>
        </p:spPr>
        <p:txBody>
          <a:bodyPr wrap="square">
            <a:spAutoFit/>
          </a:bodyPr>
          <a:lstStyle/>
          <a:p>
            <a:pPr>
              <a:defRPr sz="2000" b="0">
                <a:solidFill>
                  <a:srgbClr val="333333"/>
                </a:solidFill>
                <a:latin typeface="Calibri"/>
              </a:defRPr>
            </a:pPr>
            <a:r>
              <a:t>With the conclusion of the league stage on May 24, the top four teams advance to the playoffs, beginning a knockout journey to crown the IPL 2026 Champion.</a:t>
            </a:r>
          </a:p>
        </p:txBody>
      </p:sp>
      <p:sp>
        <p:nvSpPr>
          <p:cNvPr id="4" name="Rectangle 3"/>
          <p:cNvSpPr/>
          <p:nvPr/>
        </p:nvSpPr>
        <p:spPr>
          <a:xfrm>
            <a:off x="1371600" y="3657600"/>
            <a:ext cx="3657600" cy="1828800"/>
          </a:xfrm>
          <a:prstGeom prst="rect">
            <a:avLst/>
          </a:prstGeom>
          <a:solidFill>
            <a:srgbClr val="2F3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FCF6F5"/>
                </a:solidFill>
                <a:latin typeface="Arial Black"/>
              </a:defRPr>
            </a:pPr>
            <a:r>
              <a:t>League Stage Concludes</a:t>
            </a:r>
          </a:p>
          <a:p>
            <a:pPr algn="ctr">
              <a:defRPr sz="1600">
                <a:solidFill>
                  <a:srgbClr val="FCF6F5"/>
                </a:solidFill>
                <a:latin typeface="Calibri"/>
              </a:defRPr>
            </a:pPr>
            <a:r>
              <a:t>May 24, 2026</a:t>
            </a:r>
          </a:p>
        </p:txBody>
      </p:sp>
      <p:sp>
        <p:nvSpPr>
          <p:cNvPr id="5" name="Right Arrow 4"/>
          <p:cNvSpPr/>
          <p:nvPr/>
        </p:nvSpPr>
        <p:spPr>
          <a:xfrm>
            <a:off x="5120639" y="4343400"/>
            <a:ext cx="914400" cy="457200"/>
          </a:xfrm>
          <a:prstGeom prst="rightArrow">
            <a:avLst/>
          </a:prstGeom>
          <a:solidFill>
            <a:srgbClr val="99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5040" y="3657600"/>
            <a:ext cx="3657600" cy="1828800"/>
          </a:xfrm>
          <a:prstGeom prst="rect">
            <a:avLst/>
          </a:prstGeom>
          <a:solidFill>
            <a:srgbClr val="2F3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FCF6F5"/>
                </a:solidFill>
                <a:latin typeface="Arial Black"/>
              </a:defRPr>
            </a:pPr>
            <a:r>
              <a:t>Qualifier 1</a:t>
            </a:r>
          </a:p>
          <a:p>
            <a:pPr algn="ctr">
              <a:defRPr sz="1600">
                <a:solidFill>
                  <a:srgbClr val="FCF6F5"/>
                </a:solidFill>
                <a:latin typeface="Calibri"/>
              </a:defRPr>
            </a:pPr>
            <a:r>
              <a:t>May 26, 2026</a:t>
            </a:r>
          </a:p>
        </p:txBody>
      </p:sp>
      <p:sp>
        <p:nvSpPr>
          <p:cNvPr id="7" name="Right Arrow 6"/>
          <p:cNvSpPr/>
          <p:nvPr/>
        </p:nvSpPr>
        <p:spPr>
          <a:xfrm>
            <a:off x="9784079" y="4343400"/>
            <a:ext cx="914400" cy="457200"/>
          </a:xfrm>
          <a:prstGeom prst="rightArrow">
            <a:avLst/>
          </a:prstGeom>
          <a:solidFill>
            <a:srgbClr val="99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98480" y="3657600"/>
            <a:ext cx="3657600" cy="1828800"/>
          </a:xfrm>
          <a:prstGeom prst="rect">
            <a:avLst/>
          </a:prstGeom>
          <a:solidFill>
            <a:srgbClr val="2F3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FCF6F5"/>
                </a:solidFill>
                <a:latin typeface="Arial Black"/>
              </a:defRPr>
            </a:pPr>
            <a:r>
              <a:t>The Final</a:t>
            </a:r>
          </a:p>
          <a:p>
            <a:pPr algn="ctr">
              <a:defRPr sz="1600">
                <a:solidFill>
                  <a:srgbClr val="FCF6F5"/>
                </a:solidFill>
                <a:latin typeface="Calibri"/>
              </a:defRPr>
            </a:pPr>
            <a:r>
              <a:t>May 31,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F3C7E"/>
        </a:solidFill>
        <a:effectLst/>
      </p:bgPr>
    </p:bg>
    <p:spTree>
      <p:nvGrpSpPr>
        <p:cNvPr id="1" name=""/>
        <p:cNvGrpSpPr/>
        <p:nvPr/>
      </p:nvGrpSpPr>
      <p:grpSpPr/>
      <p:sp>
        <p:nvSpPr>
          <p:cNvPr id="2" name="TextBox 1"/>
          <p:cNvSpPr txBox="1"/>
          <p:nvPr/>
        </p:nvSpPr>
        <p:spPr>
          <a:xfrm>
            <a:off x="914400" y="3200400"/>
            <a:ext cx="12801600" cy="1828800"/>
          </a:xfrm>
          <a:prstGeom prst="rect">
            <a:avLst/>
          </a:prstGeom>
          <a:noFill/>
        </p:spPr>
        <p:txBody>
          <a:bodyPr wrap="none">
            <a:spAutoFit/>
          </a:bodyPr>
          <a:lstStyle/>
          <a:p>
            <a:pPr algn="ctr">
              <a:defRPr sz="6000">
                <a:solidFill>
                  <a:srgbClr val="FCF6F5"/>
                </a:solidFill>
                <a:latin typeface="Arial Black"/>
              </a:defRPr>
            </a:pPr>
            <a:r>
              <a:t>Thank You</a:t>
            </a:r>
          </a:p>
        </p:txBody>
      </p:sp>
      <p:sp>
        <p:nvSpPr>
          <p:cNvPr id="3" name="TextBox 2"/>
          <p:cNvSpPr txBox="1"/>
          <p:nvPr/>
        </p:nvSpPr>
        <p:spPr>
          <a:xfrm>
            <a:off x="914400" y="6858000"/>
            <a:ext cx="12801600" cy="914400"/>
          </a:xfrm>
          <a:prstGeom prst="rect">
            <a:avLst/>
          </a:prstGeom>
          <a:noFill/>
        </p:spPr>
        <p:txBody>
          <a:bodyPr wrap="none">
            <a:spAutoFit/>
          </a:bodyPr>
          <a:lstStyle/>
          <a:p>
            <a:pPr algn="ctr">
              <a:defRPr sz="1400">
                <a:solidFill>
                  <a:srgbClr val="FCF6F5"/>
                </a:solidFill>
                <a:latin typeface="Calibri Light"/>
              </a:defRPr>
            </a:pPr>
            <a:r>
              <a:t>Source: Provided research context on IPL 2026 Fixtures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