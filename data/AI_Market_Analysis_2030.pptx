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Market Value</c:v>
                </c:pt>
              </c:strCache>
            </c:strRef>
          </c:tx>
          <c:dPt>
            <c:idx val="3"/>
            <c:spPr>
              <a:solidFill>
                <a:srgbClr val="00A896"/>
              </a:solidFill>
            </c:spPr>
          </c:dPt>
          <c:cat>
            <c:strRef>
              <c:f>Sheet1!$A$2:$A$12</c:f>
              <c:strCache>
                <c:ptCount val="11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  <c:pt idx="6">
                  <c:v>2026</c:v>
                </c:pt>
                <c:pt idx="7">
                  <c:v>2027</c:v>
                </c:pt>
                <c:pt idx="8">
                  <c:v>2028</c:v>
                </c:pt>
                <c:pt idx="9">
                  <c:v>2029</c:v>
                </c:pt>
                <c:pt idx="10">
                  <c:v>2030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62</c:v>
                </c:pt>
                <c:pt idx="1">
                  <c:v>87</c:v>
                </c:pt>
                <c:pt idx="2">
                  <c:v>120</c:v>
                </c:pt>
                <c:pt idx="3">
                  <c:v>184</c:v>
                </c:pt>
                <c:pt idx="4">
                  <c:v>250</c:v>
                </c:pt>
                <c:pt idx="5">
                  <c:v>350</c:v>
                </c:pt>
                <c:pt idx="6">
                  <c:v>500</c:v>
                </c:pt>
                <c:pt idx="7">
                  <c:v>750</c:v>
                </c:pt>
                <c:pt idx="8">
                  <c:v>1050</c:v>
                </c:pt>
                <c:pt idx="9">
                  <c:v>1400</c:v>
                </c:pt>
                <c:pt idx="10">
                  <c:v>1800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Machine Learning</c:v>
                </c:pt>
                <c:pt idx="1">
                  <c:v>Natural Language Processing</c:v>
                </c:pt>
                <c:pt idx="2">
                  <c:v>Computer Vision</c:v>
                </c:pt>
                <c:pt idx="3">
                  <c:v>Robotics &amp; Automation</c:v>
                </c:pt>
                <c:pt idx="4">
                  <c:v>Other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</c:v>
                </c:pt>
                <c:pt idx="1">
                  <c:v>25</c:v>
                </c:pt>
                <c:pt idx="2">
                  <c:v>20</c:v>
                </c:pt>
                <c:pt idx="3">
                  <c:v>10</c:v>
                </c:pt>
                <c:pt idx="4">
                  <c:v>5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 b="1">
                  <a:solidFill>
                    <a:srgbClr val="FFFFFF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Productivity Gain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IT &amp; Software Dev</c:v>
                </c:pt>
                <c:pt idx="1">
                  <c:v>Manufacturing</c:v>
                </c:pt>
                <c:pt idx="2">
                  <c:v>Retail</c:v>
                </c:pt>
                <c:pt idx="3">
                  <c:v>Healthcare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30</c:v>
                </c:pt>
                <c:pt idx="2">
                  <c:v>25</c:v>
                </c:pt>
                <c:pt idx="3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4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2801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Trebuchet MS"/>
              </a:defRPr>
            </a:pPr>
            <a:r>
              <a:t>The Meteoric Rise of the AI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ADCFC"/>
                </a:solidFill>
                <a:latin typeface="Calibri"/>
              </a:defRPr>
            </a:pPr>
            <a:r>
              <a:t>Market Analysis, Trends, and Projections to 2030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E2761"/>
                </a:solidFill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200"/>
              </a:spcAft>
              <a:defRPr sz="2400">
                <a:latin typeface="Calibri"/>
              </a:defRPr>
            </a:pPr>
            <a:r>
              <a:t>Executive Summary: A Structural Shift</a:t>
            </a:r>
          </a:p>
          <a:p>
            <a:pPr>
              <a:spcAft>
                <a:spcPts val="1200"/>
              </a:spcAft>
              <a:defRPr sz="2400">
                <a:latin typeface="Calibri"/>
              </a:defRPr>
            </a:pPr>
            <a:r>
              <a:t>Exponential Market Growth Trajectory (2020-2030)</a:t>
            </a:r>
          </a:p>
          <a:p>
            <a:pPr>
              <a:spcAft>
                <a:spcPts val="1200"/>
              </a:spcAft>
              <a:defRPr sz="2400">
                <a:latin typeface="Calibri"/>
              </a:defRPr>
            </a:pPr>
            <a:r>
              <a:t>Key Market Segments &amp; Deployment Models</a:t>
            </a:r>
          </a:p>
          <a:p>
            <a:pPr>
              <a:spcAft>
                <a:spcPts val="1200"/>
              </a:spcAft>
              <a:defRPr sz="2400">
                <a:latin typeface="Calibri"/>
              </a:defRPr>
            </a:pPr>
            <a:r>
              <a:t>Regional Landscape &amp; Corporate Leaders</a:t>
            </a:r>
          </a:p>
          <a:p>
            <a:pPr>
              <a:spcAft>
                <a:spcPts val="1200"/>
              </a:spcAft>
              <a:defRPr sz="2400">
                <a:latin typeface="Calibri"/>
              </a:defRPr>
            </a:pPr>
            <a:r>
              <a:t>Investment Flows &amp; Industry Adoption</a:t>
            </a:r>
          </a:p>
          <a:p>
            <a:pPr>
              <a:spcAft>
                <a:spcPts val="1200"/>
              </a:spcAft>
              <a:defRPr sz="2400">
                <a:latin typeface="Calibri"/>
              </a:defRPr>
            </a:pPr>
            <a:r>
              <a:t>Challenges &amp; Future Outlook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E2761"/>
                </a:solidFill>
              </a:defRPr>
            </a:pPr>
            <a:r>
              <a:t>AI Market Growth Trajectory (USD Billions)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828800"/>
          <a:ext cx="128016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E2761"/>
                </a:solidFill>
              </a:defRPr>
            </a:pPr>
            <a:r>
              <a:t>Market Segmentation &amp; Deployment Trends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828800"/>
          <a:ext cx="64008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772400" y="2286000"/>
            <a:ext cx="5943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800"/>
              </a:spcAft>
              <a:defRPr sz="2800" b="1">
                <a:solidFill>
                  <a:srgbClr val="1E2761"/>
                </a:solidFill>
                <a:latin typeface="Trebuchet MS"/>
              </a:defRPr>
            </a:pPr>
            <a:r>
              <a:t>Deployment Trends</a:t>
            </a:r>
          </a:p>
          <a:p>
            <a:pPr>
              <a:spcAft>
                <a:spcPts val="1200"/>
              </a:spcAft>
              <a:defRPr sz="2400"/>
            </a:pPr>
            <a:r>
              <a:t>Cloud-Based Solutions: 65%</a:t>
            </a:r>
          </a:p>
          <a:p>
            <a:pPr>
              <a:defRPr sz="2400"/>
            </a:pPr>
            <a:r>
              <a:t>On-Premise Systems: 35%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E2761"/>
                </a:solidFill>
              </a:defRPr>
            </a:pPr>
            <a:r>
              <a:t>Regional Market Share &amp; Key Corporate Players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64008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400" b="1">
                <a:latin typeface="Trebuchet MS"/>
              </a:defRPr>
            </a:pPr>
            <a:r>
              <a:t>Regional Share</a:t>
            </a:r>
          </a:p>
          <a:p>
            <a:pPr>
              <a:spcAft>
                <a:spcPts val="800"/>
              </a:spcAft>
              <a:defRPr sz="2000"/>
            </a:pPr>
            <a:r>
              <a:t>North America: 40%</a:t>
            </a:r>
          </a:p>
          <a:p>
            <a:pPr>
              <a:spcAft>
                <a:spcPts val="800"/>
              </a:spcAft>
              <a:defRPr sz="2000"/>
            </a:pPr>
            <a:r>
              <a:t>Asia-Pacific: 30%</a:t>
            </a:r>
          </a:p>
          <a:p>
            <a:pPr>
              <a:spcAft>
                <a:spcPts val="800"/>
              </a:spcAft>
              <a:defRPr sz="2000"/>
            </a:pPr>
            <a:r>
              <a:t>Europe: 25%</a:t>
            </a:r>
          </a:p>
          <a:p>
            <a:pPr>
              <a:spcAft>
                <a:spcPts val="800"/>
              </a:spcAft>
              <a:defRPr sz="2000"/>
            </a:pPr>
            <a:r>
              <a:t>Emerging Markets: 5%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828800"/>
            <a:ext cx="64008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400" b="1">
                <a:latin typeface="Trebuchet MS"/>
              </a:defRPr>
            </a:pPr>
            <a:r>
              <a:t>Key Players</a:t>
            </a:r>
          </a:p>
          <a:p>
            <a:pPr>
              <a:spcAft>
                <a:spcPts val="800"/>
              </a:spcAft>
            </a:pPr>
            <a:r>
              <a:rPr b="1" sz="2000"/>
              <a:t>NVIDIA:</a:t>
            </a:r>
            <a:r>
              <a:rPr sz="1800"/>
              <a:t> Dominates AI hardware (GPUs).</a:t>
            </a:r>
          </a:p>
          <a:p>
            <a:pPr>
              <a:spcAft>
                <a:spcPts val="800"/>
              </a:spcAft>
            </a:pPr>
            <a:r>
              <a:rPr b="1" sz="2000"/>
              <a:t>Microsoft:</a:t>
            </a:r>
            <a:r>
              <a:rPr sz="1800"/>
              <a:t> AI integrated into cloud ecosystem.</a:t>
            </a:r>
          </a:p>
          <a:p>
            <a:pPr>
              <a:spcAft>
                <a:spcPts val="800"/>
              </a:spcAft>
            </a:pPr>
            <a:r>
              <a:rPr b="1" sz="2000"/>
              <a:t>Google:</a:t>
            </a:r>
            <a:r>
              <a:rPr sz="1800"/>
              <a:t> Leverages data and AI research.</a:t>
            </a:r>
          </a:p>
          <a:p>
            <a:pPr>
              <a:spcAft>
                <a:spcPts val="800"/>
              </a:spcAft>
            </a:pPr>
            <a:r>
              <a:rPr b="1" sz="2000"/>
              <a:t>Amazon:</a:t>
            </a:r>
            <a:r>
              <a:rPr sz="1800"/>
              <a:t> Focuses on cloud AI services (AWS).</a:t>
            </a:r>
          </a:p>
          <a:p>
            <a:pPr>
              <a:spcAft>
                <a:spcPts val="800"/>
              </a:spcAft>
            </a:pPr>
            <a:r>
              <a:rPr b="1" sz="2000"/>
              <a:t>Meta:</a:t>
            </a:r>
            <a:r>
              <a:rPr sz="1800"/>
              <a:t> Drives open-source AI models.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E2761"/>
                </a:solidFill>
              </a:defRPr>
            </a:pPr>
            <a:r>
              <a:t>Industry Adoption &amp; Estimated Productivity Gains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64008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400" b="1">
                <a:latin typeface="Trebuchet MS"/>
              </a:defRPr>
            </a:pPr>
            <a:r>
              <a:t>Adoption Maturity</a:t>
            </a:r>
          </a:p>
          <a:p>
            <a:pPr>
              <a:spcAft>
                <a:spcPts val="800"/>
              </a:spcAft>
            </a:pPr>
            <a:r>
              <a:rPr b="1" sz="2000"/>
              <a:t>Leading:</a:t>
            </a:r>
            <a:r>
              <a:rPr sz="1800"/>
              <a:t> Healthcare, Finance</a:t>
            </a:r>
          </a:p>
          <a:p>
            <a:pPr>
              <a:spcAft>
                <a:spcPts val="800"/>
              </a:spcAft>
            </a:pPr>
            <a:r>
              <a:rPr b="1" sz="2000"/>
              <a:t>Moderate:</a:t>
            </a:r>
            <a:r>
              <a:rPr sz="1800"/>
              <a:t> Retail, Manufacturing</a:t>
            </a:r>
          </a:p>
          <a:p>
            <a:pPr>
              <a:spcAft>
                <a:spcPts val="800"/>
              </a:spcAft>
            </a:pPr>
            <a:r>
              <a:rPr b="1" sz="2000"/>
              <a:t>Emerging:</a:t>
            </a:r>
            <a:r>
              <a:rPr sz="1800"/>
              <a:t> Education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0" y="2286000"/>
          <a:ext cx="68580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E2761"/>
                </a:solidFill>
              </a:defRPr>
            </a:pPr>
            <a:r>
              <a:t>Challenges and Future Trends (2025-2030)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64008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990011"/>
                </a:solidFill>
                <a:latin typeface="Trebuchet MS"/>
              </a:defRPr>
            </a:pPr>
            <a:r>
              <a:t>Key Challenges</a:t>
            </a:r>
          </a:p>
          <a:p>
            <a:pPr>
              <a:spcAft>
                <a:spcPts val="800"/>
              </a:spcAft>
              <a:defRPr sz="2000"/>
            </a:pPr>
            <a:r>
              <a:t>Regulatory Pressures (Data Privacy, Ethics)</a:t>
            </a:r>
          </a:p>
          <a:p>
            <a:pPr>
              <a:spcAft>
                <a:spcPts val="800"/>
              </a:spcAft>
              <a:defRPr sz="2000"/>
            </a:pPr>
            <a:r>
              <a:t>High Computational &amp; Infrastructure Costs</a:t>
            </a:r>
          </a:p>
          <a:p>
            <a:pPr>
              <a:spcAft>
                <a:spcPts val="800"/>
              </a:spcAft>
              <a:defRPr sz="2000"/>
            </a:pPr>
            <a:r>
              <a:t>Persistent Shortage of AI/ML Talent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828800"/>
            <a:ext cx="64008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400" b="1">
                <a:solidFill>
                  <a:srgbClr val="2C5F2D"/>
                </a:solidFill>
                <a:latin typeface="Trebuchet MS"/>
              </a:defRPr>
            </a:pPr>
            <a:r>
              <a:t>Future Trends</a:t>
            </a:r>
          </a:p>
          <a:p>
            <a:pPr>
              <a:spcAft>
                <a:spcPts val="800"/>
              </a:spcAft>
              <a:defRPr sz="2000"/>
            </a:pPr>
            <a:r>
              <a:t>Widespread Deployment of AI Copilots</a:t>
            </a:r>
          </a:p>
          <a:p>
            <a:pPr>
              <a:spcAft>
                <a:spcPts val="800"/>
              </a:spcAft>
              <a:defRPr sz="2000"/>
            </a:pPr>
            <a:r>
              <a:t>Rise of Autonomous Agents for Complex Tasks</a:t>
            </a:r>
          </a:p>
          <a:p>
            <a:pPr>
              <a:spcAft>
                <a:spcPts val="800"/>
              </a:spcAft>
              <a:defRPr sz="2000"/>
            </a:pPr>
            <a:r>
              <a:t>Convergence of AI with IoT</a:t>
            </a:r>
          </a:p>
          <a:p>
            <a:pPr>
              <a:spcAft>
                <a:spcPts val="800"/>
              </a:spcAft>
              <a:defRPr sz="2000"/>
            </a:pPr>
            <a:r>
              <a:t>Increased Traction of Open-Source Models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Trebuchet MS"/>
              </a:defRPr>
            </a:pPr>
            <a: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11887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800"/>
              </a:spcAft>
              <a:defRPr sz="2400">
                <a:solidFill>
                  <a:srgbClr val="CADCFC"/>
                </a:solidFill>
                <a:latin typeface="Calibri"/>
              </a:defRPr>
            </a:pPr>
            <a:r>
              <a:t>AI represents a structural economic shift, not a cyclical trend, with sustained 30-35% CAGR.</a:t>
            </a:r>
          </a:p>
          <a:p>
            <a:pPr>
              <a:spcAft>
                <a:spcPts val="1800"/>
              </a:spcAft>
              <a:defRPr sz="2400">
                <a:solidFill>
                  <a:srgbClr val="CADCFC"/>
                </a:solidFill>
                <a:latin typeface="Calibri"/>
              </a:defRPr>
            </a:pPr>
            <a:r>
              <a:t>Value creation is currently concentrated in the infrastructure layer (hardware, cloud).</a:t>
            </a:r>
          </a:p>
          <a:p>
            <a:pPr>
              <a:spcAft>
                <a:spcPts val="1800"/>
              </a:spcAft>
              <a:defRPr sz="2400">
                <a:solidFill>
                  <a:srgbClr val="CADCFC"/>
                </a:solidFill>
                <a:latin typeface="Calibri"/>
              </a:defRPr>
            </a:pPr>
            <a:r>
              <a:t>Generative AI marked a critical inflection point, dramatically expanding use cases and investment.</a:t>
            </a:r>
          </a:p>
          <a:p>
            <a:pPr>
              <a:spcAft>
                <a:spcPts val="1800"/>
              </a:spcAft>
              <a:defRPr sz="2400">
                <a:solidFill>
                  <a:srgbClr val="CADCFC"/>
                </a:solidFill>
                <a:latin typeface="Calibri"/>
              </a:defRPr>
            </a:pPr>
            <a:r>
              <a:t>Future growth hinges on balancing innovation with regulatory, cost, and talent challenges.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